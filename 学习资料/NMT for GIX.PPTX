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1" r:id="rId4"/>
    <p:sldId id="262" r:id="rId5"/>
    <p:sldId id="263" r:id="rId6"/>
    <p:sldId id="258" r:id="rId7"/>
    <p:sldId id="264" r:id="rId8"/>
    <p:sldId id="259" r:id="rId9"/>
    <p:sldId id="260"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76"/>
    <p:restoredTop sz="94683"/>
  </p:normalViewPr>
  <p:slideViewPr>
    <p:cSldViewPr snapToGrid="0" snapToObjects="1">
      <p:cViewPr varScale="1">
        <p:scale>
          <a:sx n="86" d="100"/>
          <a:sy n="86" d="100"/>
        </p:scale>
        <p:origin x="10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4BDF68E2-58F2-4D09-BE8B-E3BD06533059}" type="datetimeFigureOut">
              <a:rPr lang="en-US" dirty="0"/>
              <a:t>2/1/2017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528FC5F6-F338-4AE4-BB23-26385BCFC423}" type="datetimeFigureOut">
              <a:rPr lang="en-US" dirty="0"/>
              <a:t>2/1/2017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20EBB0C4-6273-4C6E-B9BD-2EDC30F1CD52}" type="datetimeFigureOut">
              <a:rPr lang="en-US" dirty="0"/>
              <a:t>2/1/2017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19AB4D41-86C1-4908-B66A-0B50CEB3BF29}" type="datetimeFigureOut">
              <a:rPr lang="en-US" dirty="0"/>
              <a:t>2/1/2017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1097280" y="2582334"/>
            <a:ext cx="4937760" cy="33782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217920" y="2582334"/>
            <a:ext cx="4937760" cy="33782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E6426E2C-56C1-4E0D-A793-0088A7FDD37E}" type="datetimeFigureOut">
              <a:rPr lang="en-US" dirty="0"/>
              <a:t>2/1/2017</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C8C39B41-D8B5-4052-B551-9B5525EAA8B6}" type="datetimeFigureOut">
              <a:rPr lang="en-US" dirty="0"/>
              <a:t>2/1/2017</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D94136C-8742-45B2-AF27-D93DF72833A9}" type="datetimeFigureOut">
              <a:rPr lang="en-US" dirty="0"/>
              <a:t>2/1/2017</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zh-CN" altLang="en-US"/>
              <a:t>单击此处编辑母版标题样式</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32ABBEA6-7C60-4B02-AE87-00D78D8422AF}" type="datetimeFigureOut">
              <a:rPr lang="en-US" dirty="0"/>
              <a:t>2/1/2017</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15" y="0"/>
            <a:ext cx="12191985" cy="4915076"/>
          </a:xfrm>
          <a:solidFill>
            <a:schemeClr val="accent3"/>
          </a:solid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将图片拖动到占位符，或单击添加图标</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C9CAD897-D46E-4AD2-BD9B-49DD3E640873}" type="datetimeFigureOut">
              <a:rPr lang="en-US" dirty="0"/>
              <a:t>2/1/2017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2E2D6473-DF6D-4702-B328-E0DD40540A4E}" type="datetimeFigureOut">
              <a:rPr lang="en-US" dirty="0"/>
              <a:t>2/1/2017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竖排标题和文本">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E26F7E3A-B166-407D-9866-32884E7D5B37}" type="datetimeFigureOut">
              <a:rPr lang="en-US" dirty="0"/>
              <a:t>2/1/2017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98624D31-43A5-475A-80CF-332C9F6DCF35}" type="datetimeFigureOut">
              <a:rPr lang="en-US" dirty="0"/>
              <a:t>2/1/2017</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dirty="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6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hyperlink" Target="https://devblogs.nvidia.com/parallelforall/introduction-neural-machine-translation-gpus-part-2/" TargetMode="External"/><Relationship Id="rId3" Type="http://schemas.openxmlformats.org/officeDocument/2006/relationships/hyperlink" Target="http://blog.csdn.net/u011414416/article/details/51057789" TargetMode="External"/><Relationship Id="rId7" Type="http://schemas.openxmlformats.org/officeDocument/2006/relationships/hyperlink" Target="https://devblogs.nvidia.com/parallelforall/introduction-neural-machine-translation-with-gpus/" TargetMode="External"/><Relationship Id="rId2" Type="http://schemas.openxmlformats.org/officeDocument/2006/relationships/hyperlink" Target="http://blog.csdn.net/u011414416/article/details/51048994" TargetMode="External"/><Relationship Id="rId1" Type="http://schemas.openxmlformats.org/officeDocument/2006/relationships/slideLayout" Target="../slideLayouts/slideLayout2.xml"/><Relationship Id="rId6" Type="http://schemas.openxmlformats.org/officeDocument/2006/relationships/hyperlink" Target="http://blog.csdn.net/u011414416/article/details/51567362" TargetMode="External"/><Relationship Id="rId5" Type="http://schemas.openxmlformats.org/officeDocument/2006/relationships/hyperlink" Target="http://blog.csdn.net/u011414416/article/details/51567254" TargetMode="External"/><Relationship Id="rId4" Type="http://schemas.openxmlformats.org/officeDocument/2006/relationships/hyperlink" Target="http://blog.csdn.net/u011414416/article/details/51108193" TargetMode="External"/><Relationship Id="rId9" Type="http://schemas.openxmlformats.org/officeDocument/2006/relationships/hyperlink" Target="https://devblogs.nvidia.com/parallelforall/introduction-neural-machine-translation-gpus-part-3/"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a:bodyPr>
          <a:lstStyle/>
          <a:p>
            <a:r>
              <a:rPr lang="en-US" altLang="zh-CN" dirty="0"/>
              <a:t>Neural machine translation model on CNTK - GIX</a:t>
            </a:r>
            <a:endParaRPr kumimoji="1" lang="zh-CN" altLang="en-US" dirty="0"/>
          </a:p>
        </p:txBody>
      </p:sp>
      <p:sp>
        <p:nvSpPr>
          <p:cNvPr id="3" name="副标题 2"/>
          <p:cNvSpPr>
            <a:spLocks noGrp="1"/>
          </p:cNvSpPr>
          <p:nvPr>
            <p:ph type="subTitle" idx="1"/>
          </p:nvPr>
        </p:nvSpPr>
        <p:spPr/>
        <p:txBody>
          <a:bodyPr/>
          <a:lstStyle/>
          <a:p>
            <a:pPr algn="ctr"/>
            <a:r>
              <a:rPr kumimoji="1" lang="en-US" altLang="zh-CN" dirty="0"/>
              <a:t>MSRA</a:t>
            </a:r>
            <a:endParaRPr kumimoji="1" lang="zh-CN" altLang="en-US" dirty="0"/>
          </a:p>
        </p:txBody>
      </p:sp>
    </p:spTree>
    <p:extLst>
      <p:ext uri="{BB962C8B-B14F-4D97-AF65-F5344CB8AC3E}">
        <p14:creationId xmlns:p14="http://schemas.microsoft.com/office/powerpoint/2010/main" val="18918275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Description</a:t>
            </a:r>
            <a:endParaRPr kumimoji="1" lang="zh-CN" altLang="en-US" dirty="0"/>
          </a:p>
        </p:txBody>
      </p:sp>
      <p:sp>
        <p:nvSpPr>
          <p:cNvPr id="3" name="内容占位符 2"/>
          <p:cNvSpPr>
            <a:spLocks noGrp="1"/>
          </p:cNvSpPr>
          <p:nvPr>
            <p:ph idx="1"/>
          </p:nvPr>
        </p:nvSpPr>
        <p:spPr/>
        <p:txBody>
          <a:bodyPr>
            <a:normAutofit/>
          </a:bodyPr>
          <a:lstStyle/>
          <a:p>
            <a:r>
              <a:rPr lang="en-US" altLang="zh-CN" sz="2400" dirty="0"/>
              <a:t>Recently Deep Learning is really making great progresses in various AI tasks including speech recognition, image classification, text understanding.</a:t>
            </a:r>
          </a:p>
          <a:p>
            <a:r>
              <a:rPr lang="en-US" altLang="zh-CN" sz="2400" dirty="0"/>
              <a:t>In this project, we are going to further explore the textual deep learning model. </a:t>
            </a:r>
          </a:p>
          <a:p>
            <a:r>
              <a:rPr lang="en-US" altLang="zh-CN" sz="2400" dirty="0"/>
              <a:t>Among those text related model, the Sequence to Sequence model with recurrent neural network (LSTM) is the most widely used one. It is used in many scenarios and especially useful in conversation model and machine translation scenario. </a:t>
            </a:r>
          </a:p>
          <a:p>
            <a:endParaRPr kumimoji="1" lang="zh-CN" altLang="en-US" sz="2400" dirty="0"/>
          </a:p>
        </p:txBody>
      </p:sp>
    </p:spTree>
    <p:extLst>
      <p:ext uri="{BB962C8B-B14F-4D97-AF65-F5344CB8AC3E}">
        <p14:creationId xmlns:p14="http://schemas.microsoft.com/office/powerpoint/2010/main" val="3028898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Machine Translation</a:t>
            </a:r>
            <a:endParaRPr kumimoji="1" lang="zh-CN" altLang="en-US" dirty="0"/>
          </a:p>
        </p:txBody>
      </p:sp>
      <p:sp>
        <p:nvSpPr>
          <p:cNvPr id="3" name="内容占位符 2"/>
          <p:cNvSpPr>
            <a:spLocks noGrp="1"/>
          </p:cNvSpPr>
          <p:nvPr>
            <p:ph idx="1"/>
          </p:nvPr>
        </p:nvSpPr>
        <p:spPr/>
        <p:txBody>
          <a:bodyPr/>
          <a:lstStyle/>
          <a:p>
            <a:r>
              <a:rPr kumimoji="1" lang="en-US" altLang="zh-CN" dirty="0"/>
              <a:t>The</a:t>
            </a:r>
            <a:r>
              <a:rPr kumimoji="1" lang="zh-CN" altLang="en-US" dirty="0"/>
              <a:t> </a:t>
            </a:r>
            <a:r>
              <a:rPr kumimoji="1" lang="en-US" altLang="zh-CN" dirty="0"/>
              <a:t>most</a:t>
            </a:r>
            <a:r>
              <a:rPr kumimoji="1" lang="zh-CN" altLang="en-US" dirty="0"/>
              <a:t> </a:t>
            </a:r>
            <a:r>
              <a:rPr kumimoji="1" lang="en-US" altLang="zh-CN" dirty="0"/>
              <a:t>classic</a:t>
            </a:r>
            <a:r>
              <a:rPr kumimoji="1" lang="zh-CN" altLang="en-US" dirty="0"/>
              <a:t> </a:t>
            </a:r>
            <a:r>
              <a:rPr kumimoji="1" lang="en-US" altLang="zh-CN" dirty="0"/>
              <a:t>task</a:t>
            </a:r>
            <a:r>
              <a:rPr kumimoji="1" lang="zh-CN" altLang="en-US" dirty="0"/>
              <a:t> </a:t>
            </a:r>
            <a:r>
              <a:rPr kumimoji="1" lang="en-US" altLang="zh-CN" dirty="0"/>
              <a:t>of</a:t>
            </a:r>
            <a:r>
              <a:rPr kumimoji="1" lang="zh-CN" altLang="en-US" dirty="0"/>
              <a:t> </a:t>
            </a:r>
            <a:r>
              <a:rPr kumimoji="1" lang="en-US" altLang="zh-CN" dirty="0"/>
              <a:t>language</a:t>
            </a:r>
            <a:r>
              <a:rPr kumimoji="1" lang="zh-CN" altLang="en-US" dirty="0"/>
              <a:t> </a:t>
            </a:r>
            <a:r>
              <a:rPr kumimoji="1" lang="en-US" altLang="zh-CN" dirty="0"/>
              <a:t>understanding.</a:t>
            </a:r>
            <a:r>
              <a:rPr kumimoji="1" lang="zh-CN" altLang="en-US" dirty="0"/>
              <a:t> </a:t>
            </a:r>
            <a:r>
              <a:rPr kumimoji="1" lang="en-US" altLang="zh-CN" dirty="0"/>
              <a:t>Valuable</a:t>
            </a:r>
            <a:r>
              <a:rPr kumimoji="1" lang="zh-CN" altLang="en-US" dirty="0"/>
              <a:t>  </a:t>
            </a:r>
            <a:r>
              <a:rPr kumimoji="1" lang="en-US" altLang="zh-CN" dirty="0"/>
              <a:t>for</a:t>
            </a:r>
            <a:r>
              <a:rPr kumimoji="1" lang="zh-CN" altLang="en-US" dirty="0"/>
              <a:t> </a:t>
            </a:r>
            <a:r>
              <a:rPr kumimoji="1" lang="en-US" altLang="zh-CN" dirty="0"/>
              <a:t>both</a:t>
            </a:r>
            <a:r>
              <a:rPr kumimoji="1" lang="zh-CN" altLang="en-US" dirty="0"/>
              <a:t> </a:t>
            </a:r>
            <a:r>
              <a:rPr kumimoji="1" lang="en-US" altLang="zh-CN" dirty="0"/>
              <a:t>academic</a:t>
            </a:r>
            <a:r>
              <a:rPr kumimoji="1" lang="zh-CN" altLang="en-US" dirty="0"/>
              <a:t> </a:t>
            </a:r>
            <a:r>
              <a:rPr kumimoji="1" lang="en-US" altLang="zh-CN" dirty="0"/>
              <a:t>and</a:t>
            </a:r>
            <a:r>
              <a:rPr kumimoji="1" lang="zh-CN" altLang="en-US" dirty="0"/>
              <a:t> </a:t>
            </a:r>
            <a:r>
              <a:rPr kumimoji="1" lang="en-US" altLang="zh-CN" dirty="0"/>
              <a:t>industry</a:t>
            </a:r>
          </a:p>
          <a:p>
            <a:pPr lvl="1"/>
            <a:r>
              <a:rPr kumimoji="1" lang="en-US" altLang="zh-CN" dirty="0"/>
              <a:t>Language</a:t>
            </a:r>
            <a:r>
              <a:rPr kumimoji="1" lang="zh-CN" altLang="en-US" dirty="0"/>
              <a:t> </a:t>
            </a:r>
            <a:r>
              <a:rPr kumimoji="1" lang="en-US" altLang="zh-CN" dirty="0"/>
              <a:t>analysis</a:t>
            </a:r>
          </a:p>
          <a:p>
            <a:pPr lvl="1"/>
            <a:r>
              <a:rPr kumimoji="1" lang="en-US" altLang="zh-CN" dirty="0"/>
              <a:t>Language</a:t>
            </a:r>
            <a:r>
              <a:rPr kumimoji="1" lang="zh-CN" altLang="en-US" dirty="0"/>
              <a:t> </a:t>
            </a:r>
            <a:r>
              <a:rPr kumimoji="1" lang="en-US" altLang="zh-CN" dirty="0"/>
              <a:t>generation</a:t>
            </a:r>
          </a:p>
          <a:p>
            <a:pPr lvl="1"/>
            <a:endParaRPr kumimoji="1" lang="en-US" altLang="zh-CN" dirty="0"/>
          </a:p>
          <a:p>
            <a:r>
              <a:rPr kumimoji="1" lang="en-US" altLang="zh-CN" dirty="0"/>
              <a:t>Huge</a:t>
            </a:r>
            <a:r>
              <a:rPr kumimoji="1" lang="zh-CN" altLang="en-US" dirty="0"/>
              <a:t> </a:t>
            </a:r>
            <a:r>
              <a:rPr kumimoji="1" lang="en-US" altLang="zh-CN" dirty="0"/>
              <a:t>commercial</a:t>
            </a:r>
            <a:r>
              <a:rPr kumimoji="1" lang="zh-CN" altLang="en-US" dirty="0"/>
              <a:t> </a:t>
            </a:r>
            <a:r>
              <a:rPr kumimoji="1" lang="en-US" altLang="zh-CN" dirty="0"/>
              <a:t>use,</a:t>
            </a:r>
            <a:r>
              <a:rPr kumimoji="1" lang="zh-CN" altLang="en-US" dirty="0"/>
              <a:t> </a:t>
            </a:r>
            <a:r>
              <a:rPr kumimoji="1" lang="en-US" altLang="zh-CN" dirty="0"/>
              <a:t>Billion</a:t>
            </a:r>
            <a:r>
              <a:rPr kumimoji="1" lang="zh-CN" altLang="en-US" dirty="0"/>
              <a:t> </a:t>
            </a:r>
            <a:r>
              <a:rPr kumimoji="1" lang="en-US" altLang="zh-CN" dirty="0"/>
              <a:t>dollars</a:t>
            </a:r>
            <a:r>
              <a:rPr kumimoji="1" lang="zh-CN" altLang="en-US" dirty="0"/>
              <a:t> </a:t>
            </a:r>
            <a:r>
              <a:rPr kumimoji="1" lang="en-US" altLang="zh-CN" dirty="0"/>
              <a:t>business</a:t>
            </a:r>
          </a:p>
          <a:p>
            <a:pPr lvl="1"/>
            <a:r>
              <a:rPr kumimoji="1" lang="en-US" altLang="zh-CN" dirty="0"/>
              <a:t>Microsoft,</a:t>
            </a:r>
            <a:r>
              <a:rPr kumimoji="1" lang="zh-CN" altLang="en-US" dirty="0"/>
              <a:t> </a:t>
            </a:r>
            <a:r>
              <a:rPr kumimoji="1" lang="en-US" altLang="zh-CN" dirty="0"/>
              <a:t>Bing</a:t>
            </a:r>
            <a:r>
              <a:rPr kumimoji="1" lang="zh-CN" altLang="en-US" dirty="0"/>
              <a:t> </a:t>
            </a:r>
            <a:r>
              <a:rPr kumimoji="1" lang="en-US" altLang="zh-CN" dirty="0"/>
              <a:t>Translator,</a:t>
            </a:r>
            <a:r>
              <a:rPr kumimoji="1" lang="zh-CN" altLang="en-US" dirty="0"/>
              <a:t> </a:t>
            </a:r>
            <a:r>
              <a:rPr kumimoji="1" lang="en-US" altLang="zh-CN" dirty="0"/>
              <a:t>Skype</a:t>
            </a:r>
          </a:p>
          <a:p>
            <a:pPr lvl="1"/>
            <a:r>
              <a:rPr kumimoji="1" lang="en-US" altLang="zh-CN" dirty="0"/>
              <a:t>Google,</a:t>
            </a:r>
            <a:r>
              <a:rPr kumimoji="1" lang="zh-CN" altLang="en-US" dirty="0"/>
              <a:t> </a:t>
            </a:r>
            <a:r>
              <a:rPr kumimoji="1" lang="en-US" altLang="zh-CN" dirty="0"/>
              <a:t>Google</a:t>
            </a:r>
            <a:r>
              <a:rPr kumimoji="1" lang="zh-CN" altLang="en-US" dirty="0"/>
              <a:t> </a:t>
            </a:r>
            <a:r>
              <a:rPr kumimoji="1" lang="en-US" altLang="zh-CN" dirty="0"/>
              <a:t>Translator</a:t>
            </a:r>
          </a:p>
          <a:p>
            <a:pPr lvl="1"/>
            <a:r>
              <a:rPr kumimoji="1" lang="en-US" altLang="zh-CN" dirty="0"/>
              <a:t>Baidu,</a:t>
            </a:r>
            <a:r>
              <a:rPr kumimoji="1" lang="zh-CN" altLang="en-US" dirty="0"/>
              <a:t> </a:t>
            </a:r>
            <a:r>
              <a:rPr kumimoji="1" lang="en-US" altLang="zh-CN" dirty="0"/>
              <a:t>Facebook</a:t>
            </a:r>
            <a:r>
              <a:rPr kumimoji="1" lang="zh-CN" altLang="en-US" dirty="0"/>
              <a:t> </a:t>
            </a:r>
            <a:r>
              <a:rPr kumimoji="1" lang="en-US" altLang="zh-CN" dirty="0"/>
              <a:t>and</a:t>
            </a:r>
            <a:r>
              <a:rPr kumimoji="1" lang="zh-CN" altLang="en-US" dirty="0"/>
              <a:t> </a:t>
            </a:r>
            <a:r>
              <a:rPr kumimoji="1" lang="en-US" altLang="zh-CN" dirty="0" err="1"/>
              <a:t>tencent</a:t>
            </a:r>
            <a:endParaRPr kumimoji="1" lang="en-US" altLang="zh-CN" dirty="0"/>
          </a:p>
          <a:p>
            <a:pPr lvl="1"/>
            <a:r>
              <a:rPr kumimoji="1" lang="en-US" altLang="zh-CN" dirty="0"/>
              <a:t>Etc.</a:t>
            </a:r>
          </a:p>
          <a:p>
            <a:pPr lvl="1"/>
            <a:endParaRPr kumimoji="1" lang="en-US" altLang="zh-CN" dirty="0"/>
          </a:p>
        </p:txBody>
      </p:sp>
    </p:spTree>
    <p:extLst>
      <p:ext uri="{BB962C8B-B14F-4D97-AF65-F5344CB8AC3E}">
        <p14:creationId xmlns:p14="http://schemas.microsoft.com/office/powerpoint/2010/main" val="11833387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Progress</a:t>
            </a:r>
            <a:r>
              <a:rPr kumimoji="1" lang="zh-CN" altLang="en-US" dirty="0"/>
              <a:t> </a:t>
            </a:r>
            <a:r>
              <a:rPr kumimoji="1" lang="en-US" altLang="zh-CN" dirty="0"/>
              <a:t>of</a:t>
            </a:r>
            <a:r>
              <a:rPr kumimoji="1" lang="zh-CN" altLang="en-US" dirty="0"/>
              <a:t> </a:t>
            </a:r>
            <a:r>
              <a:rPr kumimoji="1" lang="en-US" altLang="zh-CN" dirty="0"/>
              <a:t>MT</a:t>
            </a:r>
            <a:endParaRPr kumimoji="1" lang="zh-CN" altLang="en-US" dirty="0"/>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55131" y="1828800"/>
            <a:ext cx="6594417" cy="4449596"/>
          </a:xfrm>
        </p:spPr>
      </p:pic>
    </p:spTree>
    <p:extLst>
      <p:ext uri="{BB962C8B-B14F-4D97-AF65-F5344CB8AC3E}">
        <p14:creationId xmlns:p14="http://schemas.microsoft.com/office/powerpoint/2010/main" val="5168735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Neural</a:t>
            </a:r>
            <a:r>
              <a:rPr kumimoji="1" lang="zh-CN" altLang="en-US" dirty="0"/>
              <a:t> </a:t>
            </a:r>
            <a:r>
              <a:rPr kumimoji="1" lang="en-US" altLang="zh-CN" dirty="0"/>
              <a:t>Machine</a:t>
            </a:r>
            <a:r>
              <a:rPr kumimoji="1" lang="zh-CN" altLang="en-US" dirty="0"/>
              <a:t> </a:t>
            </a:r>
            <a:r>
              <a:rPr kumimoji="1" lang="en-US" altLang="zh-CN" dirty="0"/>
              <a:t>Translation</a:t>
            </a:r>
            <a:endParaRPr kumimoji="1" lang="zh-CN" altLang="en-US" dirty="0"/>
          </a:p>
        </p:txBody>
      </p:sp>
      <p:sp>
        <p:nvSpPr>
          <p:cNvPr id="3" name="内容占位符 2"/>
          <p:cNvSpPr>
            <a:spLocks noGrp="1"/>
          </p:cNvSpPr>
          <p:nvPr>
            <p:ph idx="1"/>
          </p:nvPr>
        </p:nvSpPr>
        <p:spPr/>
        <p:txBody>
          <a:bodyPr>
            <a:normAutofit/>
          </a:bodyPr>
          <a:lstStyle/>
          <a:p>
            <a:r>
              <a:rPr lang="en-US" altLang="zh-CN" sz="2800" dirty="0"/>
              <a:t>1.End-to-end training</a:t>
            </a:r>
          </a:p>
          <a:p>
            <a:pPr lvl="1"/>
            <a:r>
              <a:rPr lang="en-US" altLang="zh-CN" sz="2400" dirty="0"/>
              <a:t> All parameters are simultaneously optimized to minimize a loss function on the network’s output </a:t>
            </a:r>
          </a:p>
          <a:p>
            <a:r>
              <a:rPr lang="en-US" altLang="zh-CN" sz="2800" dirty="0"/>
              <a:t>2. Distributed representations share strength </a:t>
            </a:r>
          </a:p>
          <a:p>
            <a:pPr lvl="1"/>
            <a:r>
              <a:rPr lang="en-US" altLang="zh-CN" sz="2400" dirty="0"/>
              <a:t>Better exploitation of word and phrase similarities </a:t>
            </a:r>
          </a:p>
          <a:p>
            <a:r>
              <a:rPr lang="en-US" altLang="zh-CN" sz="2800" dirty="0"/>
              <a:t>3. Better exploitation of context </a:t>
            </a:r>
          </a:p>
          <a:p>
            <a:pPr lvl="1"/>
            <a:r>
              <a:rPr lang="en-US" altLang="zh-CN" sz="2400" dirty="0"/>
              <a:t>NMT can use a much bigger context – both source and partial target text – to translate more accurately</a:t>
            </a:r>
            <a:endParaRPr kumimoji="1" lang="zh-CN" altLang="en-US" sz="2400" dirty="0"/>
          </a:p>
        </p:txBody>
      </p:sp>
      <p:sp>
        <p:nvSpPr>
          <p:cNvPr id="4" name="文本框 3"/>
          <p:cNvSpPr txBox="1"/>
          <p:nvPr/>
        </p:nvSpPr>
        <p:spPr>
          <a:xfrm>
            <a:off x="6681235" y="6484087"/>
            <a:ext cx="5558381" cy="307777"/>
          </a:xfrm>
          <a:prstGeom prst="rect">
            <a:avLst/>
          </a:prstGeom>
          <a:noFill/>
        </p:spPr>
        <p:txBody>
          <a:bodyPr wrap="none" rtlCol="0">
            <a:spAutoFit/>
          </a:bodyPr>
          <a:lstStyle/>
          <a:p>
            <a:r>
              <a:rPr kumimoji="1" lang="en-US" altLang="zh-CN" sz="1400" i="1" dirty="0"/>
              <a:t>http://</a:t>
            </a:r>
            <a:r>
              <a:rPr kumimoji="1" lang="en-US" altLang="zh-CN" sz="1400" i="1" dirty="0" err="1"/>
              <a:t>nlp.stanford.edu</a:t>
            </a:r>
            <a:r>
              <a:rPr kumimoji="1" lang="en-US" altLang="zh-CN" sz="1400" i="1" dirty="0"/>
              <a:t>/projects/</a:t>
            </a:r>
            <a:r>
              <a:rPr kumimoji="1" lang="en-US" altLang="zh-CN" sz="1400" i="1" dirty="0" err="1"/>
              <a:t>nmt</a:t>
            </a:r>
            <a:r>
              <a:rPr kumimoji="1" lang="en-US" altLang="zh-CN" sz="1400" i="1" dirty="0"/>
              <a:t>/Luong-Cho-Manning-NMT-ACL2016</a:t>
            </a:r>
            <a:endParaRPr kumimoji="1" lang="zh-CN" altLang="en-US" sz="1400" i="1" dirty="0"/>
          </a:p>
        </p:txBody>
      </p:sp>
    </p:spTree>
    <p:extLst>
      <p:ext uri="{BB962C8B-B14F-4D97-AF65-F5344CB8AC3E}">
        <p14:creationId xmlns:p14="http://schemas.microsoft.com/office/powerpoint/2010/main" val="21414250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CNTK</a:t>
            </a:r>
            <a:endParaRPr kumimoji="1" lang="zh-CN" altLang="en-US" dirty="0"/>
          </a:p>
        </p:txBody>
      </p:sp>
      <p:sp>
        <p:nvSpPr>
          <p:cNvPr id="3" name="内容占位符 2"/>
          <p:cNvSpPr>
            <a:spLocks noGrp="1"/>
          </p:cNvSpPr>
          <p:nvPr>
            <p:ph idx="1"/>
          </p:nvPr>
        </p:nvSpPr>
        <p:spPr/>
        <p:txBody>
          <a:bodyPr/>
          <a:lstStyle/>
          <a:p>
            <a:r>
              <a:rPr lang="en-US" altLang="zh-CN" dirty="0"/>
              <a:t>Microsoft is working on building the cognitive toolkit (CNTK), one of the most powerful deep learning platform in the world. In this platform, it has provided very flexible and powerful components to build various deep learning models, such as convolutional neural network, recurrent neural network. Besides of building these basic models, another very important thing for us is leveraging these models to solve real word problems, and build interesting innovational applications. </a:t>
            </a:r>
          </a:p>
        </p:txBody>
      </p:sp>
    </p:spTree>
    <p:extLst>
      <p:ext uri="{BB962C8B-B14F-4D97-AF65-F5344CB8AC3E}">
        <p14:creationId xmlns:p14="http://schemas.microsoft.com/office/powerpoint/2010/main" val="11281875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Tasks</a:t>
            </a:r>
            <a:endParaRPr kumimoji="1" lang="zh-CN" altLang="en-US" dirty="0"/>
          </a:p>
        </p:txBody>
      </p:sp>
      <p:sp>
        <p:nvSpPr>
          <p:cNvPr id="3" name="内容占位符 2"/>
          <p:cNvSpPr>
            <a:spLocks noGrp="1"/>
          </p:cNvSpPr>
          <p:nvPr>
            <p:ph idx="1"/>
          </p:nvPr>
        </p:nvSpPr>
        <p:spPr/>
        <p:txBody>
          <a:bodyPr/>
          <a:lstStyle/>
          <a:p>
            <a:r>
              <a:rPr lang="en-US" altLang="zh-CN" b="1" dirty="0"/>
              <a:t>In this project, we are going to enable the neural machine translation and related tasks on top of CNTK.</a:t>
            </a:r>
          </a:p>
          <a:p>
            <a:r>
              <a:rPr lang="en-US" altLang="zh-CN" dirty="0"/>
              <a:t> Actually machine translation isn't restrict to the translation from one language to another, it could derive other applications like converting textual information from one style to another style </a:t>
            </a:r>
          </a:p>
          <a:p>
            <a:r>
              <a:rPr lang="en-US" altLang="zh-CN" dirty="0"/>
              <a:t>(e.g. from </a:t>
            </a:r>
            <a:r>
              <a:rPr lang="zh-CN" altLang="en-US" dirty="0"/>
              <a:t>文言文</a:t>
            </a:r>
            <a:r>
              <a:rPr lang="en-US" altLang="zh-CN" dirty="0"/>
              <a:t> to </a:t>
            </a:r>
            <a:r>
              <a:rPr lang="zh-CN" altLang="en-US" dirty="0"/>
              <a:t>白话文</a:t>
            </a:r>
            <a:r>
              <a:rPr lang="en-US" altLang="zh-CN" dirty="0"/>
              <a:t>, from a normal essay to </a:t>
            </a:r>
            <a:r>
              <a:rPr lang="en-US" altLang="zh-CN" dirty="0" err="1"/>
              <a:t>Shakespear's</a:t>
            </a:r>
            <a:r>
              <a:rPr lang="en-US" altLang="zh-CN" dirty="0"/>
              <a:t>). These scenarios could make the possible output of this project more interesting. </a:t>
            </a:r>
          </a:p>
          <a:p>
            <a:endParaRPr kumimoji="1" lang="zh-CN" altLang="en-US" dirty="0"/>
          </a:p>
          <a:p>
            <a:endParaRPr kumimoji="1"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37176" y="4166347"/>
            <a:ext cx="1819238" cy="1819238"/>
          </a:xfrm>
          <a:prstGeom prst="rect">
            <a:avLst/>
          </a:prstGeom>
        </p:spPr>
      </p:pic>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79408" y="4350870"/>
            <a:ext cx="1933588" cy="1450191"/>
          </a:xfrm>
          <a:prstGeom prst="rect">
            <a:avLst/>
          </a:prstGeom>
        </p:spPr>
      </p:pic>
    </p:spTree>
    <p:extLst>
      <p:ext uri="{BB962C8B-B14F-4D97-AF65-F5344CB8AC3E}">
        <p14:creationId xmlns:p14="http://schemas.microsoft.com/office/powerpoint/2010/main" val="16887362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Technical requirement</a:t>
            </a:r>
            <a:endParaRPr kumimoji="1" lang="zh-CN" altLang="en-US" dirty="0"/>
          </a:p>
        </p:txBody>
      </p:sp>
      <p:sp>
        <p:nvSpPr>
          <p:cNvPr id="3" name="内容占位符 2"/>
          <p:cNvSpPr>
            <a:spLocks noGrp="1"/>
          </p:cNvSpPr>
          <p:nvPr>
            <p:ph idx="1"/>
          </p:nvPr>
        </p:nvSpPr>
        <p:spPr/>
        <p:txBody>
          <a:bodyPr/>
          <a:lstStyle/>
          <a:p>
            <a:pPr marL="457200" lvl="0" indent="-457200">
              <a:buFont typeface="+mj-lt"/>
              <a:buAutoNum type="arabicPeriod"/>
            </a:pPr>
            <a:r>
              <a:rPr lang="en-US" dirty="0"/>
              <a:t>with knowledge on basics of deep learning, especially on Recurrent Neural Network &amp; LSTM.</a:t>
            </a:r>
          </a:p>
          <a:p>
            <a:pPr marL="457200" lvl="0" indent="-457200">
              <a:buFont typeface="+mj-lt"/>
              <a:buAutoNum type="arabicPeriod"/>
            </a:pPr>
            <a:r>
              <a:rPr lang="en-US" dirty="0"/>
              <a:t>work with C++ / Python.</a:t>
            </a:r>
          </a:p>
          <a:p>
            <a:pPr marL="457200" lvl="0" indent="-457200">
              <a:buFont typeface="+mj-lt"/>
              <a:buAutoNum type="arabicPeriod"/>
            </a:pPr>
            <a:r>
              <a:rPr lang="en-US" dirty="0"/>
              <a:t>With basic experience on textual data processing and mining</a:t>
            </a:r>
          </a:p>
        </p:txBody>
      </p:sp>
    </p:spTree>
    <p:extLst>
      <p:ext uri="{BB962C8B-B14F-4D97-AF65-F5344CB8AC3E}">
        <p14:creationId xmlns:p14="http://schemas.microsoft.com/office/powerpoint/2010/main" val="15109912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Planned time schedule</a:t>
            </a:r>
            <a:endParaRPr kumimoji="1" lang="zh-CN" altLang="en-US" dirty="0"/>
          </a:p>
        </p:txBody>
      </p:sp>
      <p:sp>
        <p:nvSpPr>
          <p:cNvPr id="3" name="内容占位符 2"/>
          <p:cNvSpPr>
            <a:spLocks noGrp="1"/>
          </p:cNvSpPr>
          <p:nvPr>
            <p:ph idx="1"/>
          </p:nvPr>
        </p:nvSpPr>
        <p:spPr/>
        <p:txBody>
          <a:bodyPr/>
          <a:lstStyle/>
          <a:p>
            <a:r>
              <a:rPr kumimoji="1" lang="en-US" altLang="zh-CN" dirty="0"/>
              <a:t>Prepare</a:t>
            </a:r>
            <a:r>
              <a:rPr kumimoji="1" lang="zh-CN" altLang="en-US" dirty="0"/>
              <a:t> </a:t>
            </a:r>
            <a:r>
              <a:rPr kumimoji="1" lang="en-US" altLang="zh-CN" dirty="0"/>
              <a:t>data</a:t>
            </a:r>
            <a:r>
              <a:rPr kumimoji="1" lang="zh-CN" altLang="en-US" dirty="0"/>
              <a:t> </a:t>
            </a:r>
            <a:r>
              <a:rPr kumimoji="1" lang="en-US" altLang="zh-CN" dirty="0"/>
              <a:t>for</a:t>
            </a:r>
            <a:r>
              <a:rPr kumimoji="1" lang="zh-CN" altLang="en-US" dirty="0"/>
              <a:t> </a:t>
            </a:r>
            <a:r>
              <a:rPr kumimoji="1" lang="en-US" altLang="zh-CN" dirty="0"/>
              <a:t>the</a:t>
            </a:r>
            <a:r>
              <a:rPr kumimoji="1" lang="zh-CN" altLang="en-US" dirty="0"/>
              <a:t> </a:t>
            </a:r>
            <a:r>
              <a:rPr kumimoji="1" lang="en-US" altLang="zh-CN" dirty="0"/>
              <a:t>task</a:t>
            </a:r>
            <a:r>
              <a:rPr kumimoji="1" lang="zh-CN" altLang="en-US" dirty="0"/>
              <a:t> </a:t>
            </a:r>
            <a:r>
              <a:rPr kumimoji="1" lang="en-US" altLang="zh-CN" dirty="0"/>
              <a:t>(1</a:t>
            </a:r>
            <a:r>
              <a:rPr kumimoji="1" lang="zh-CN" altLang="en-US" dirty="0"/>
              <a:t> </a:t>
            </a:r>
            <a:r>
              <a:rPr kumimoji="1" lang="en-US" altLang="zh-CN" dirty="0"/>
              <a:t>week)</a:t>
            </a:r>
          </a:p>
          <a:p>
            <a:pPr lvl="1"/>
            <a:r>
              <a:rPr kumimoji="1" lang="en-US" altLang="zh-CN" dirty="0"/>
              <a:t>Data</a:t>
            </a:r>
            <a:r>
              <a:rPr kumimoji="1" lang="zh-CN" altLang="en-US" dirty="0"/>
              <a:t> </a:t>
            </a:r>
            <a:r>
              <a:rPr kumimoji="1" lang="en-US" altLang="zh-CN" dirty="0"/>
              <a:t>collecting</a:t>
            </a:r>
          </a:p>
          <a:p>
            <a:pPr lvl="1"/>
            <a:r>
              <a:rPr kumimoji="1" lang="en-US" altLang="zh-CN" dirty="0"/>
              <a:t>Data</a:t>
            </a:r>
            <a:r>
              <a:rPr kumimoji="1" lang="zh-CN" altLang="en-US" dirty="0"/>
              <a:t> </a:t>
            </a:r>
            <a:r>
              <a:rPr kumimoji="1" lang="en-US" altLang="zh-CN" dirty="0"/>
              <a:t>cleaning</a:t>
            </a:r>
            <a:r>
              <a:rPr kumimoji="1" lang="zh-CN" altLang="en-US" dirty="0"/>
              <a:t> </a:t>
            </a:r>
            <a:endParaRPr kumimoji="1" lang="en-US" altLang="zh-CN" dirty="0"/>
          </a:p>
          <a:p>
            <a:r>
              <a:rPr kumimoji="1" lang="en-US" altLang="zh-CN" dirty="0"/>
              <a:t>Build</a:t>
            </a:r>
            <a:r>
              <a:rPr kumimoji="1" lang="zh-CN" altLang="en-US" dirty="0"/>
              <a:t> </a:t>
            </a:r>
            <a:r>
              <a:rPr kumimoji="1" lang="en-US" altLang="zh-CN" dirty="0"/>
              <a:t>NMT</a:t>
            </a:r>
            <a:r>
              <a:rPr kumimoji="1" lang="zh-CN" altLang="en-US" dirty="0"/>
              <a:t> </a:t>
            </a:r>
            <a:r>
              <a:rPr kumimoji="1" lang="en-US" altLang="zh-CN" dirty="0"/>
              <a:t>model</a:t>
            </a:r>
            <a:r>
              <a:rPr kumimoji="1" lang="zh-CN" altLang="en-US" dirty="0"/>
              <a:t> </a:t>
            </a:r>
            <a:r>
              <a:rPr kumimoji="1" lang="en-US" altLang="zh-CN" dirty="0"/>
              <a:t>for</a:t>
            </a:r>
            <a:r>
              <a:rPr kumimoji="1" lang="zh-CN" altLang="en-US" dirty="0"/>
              <a:t> </a:t>
            </a:r>
            <a:r>
              <a:rPr kumimoji="1" lang="en-US" altLang="zh-CN" dirty="0"/>
              <a:t>different</a:t>
            </a:r>
            <a:r>
              <a:rPr kumimoji="1" lang="zh-CN" altLang="en-US" dirty="0"/>
              <a:t> </a:t>
            </a:r>
            <a:r>
              <a:rPr kumimoji="1" lang="en-US" altLang="zh-CN" dirty="0"/>
              <a:t>scenario</a:t>
            </a:r>
            <a:r>
              <a:rPr kumimoji="1" lang="zh-CN" altLang="en-US" dirty="0"/>
              <a:t> </a:t>
            </a:r>
            <a:r>
              <a:rPr kumimoji="1" lang="en-US" altLang="zh-CN" dirty="0"/>
              <a:t>(2-3</a:t>
            </a:r>
            <a:r>
              <a:rPr kumimoji="1" lang="zh-CN" altLang="en-US" dirty="0"/>
              <a:t> </a:t>
            </a:r>
            <a:r>
              <a:rPr kumimoji="1" lang="en-US" altLang="zh-CN" dirty="0"/>
              <a:t>weeks)</a:t>
            </a:r>
          </a:p>
          <a:p>
            <a:pPr lvl="1"/>
            <a:r>
              <a:rPr kumimoji="1" lang="en-US" altLang="zh-CN" dirty="0"/>
              <a:t>Basic translation model  - Chinese &lt;-&gt; English</a:t>
            </a:r>
          </a:p>
          <a:p>
            <a:pPr lvl="1"/>
            <a:r>
              <a:rPr kumimoji="1" lang="en-US" altLang="zh-CN" dirty="0"/>
              <a:t>Chinese</a:t>
            </a:r>
            <a:r>
              <a:rPr kumimoji="1" lang="zh-CN" altLang="en-US" dirty="0"/>
              <a:t>  </a:t>
            </a:r>
            <a:r>
              <a:rPr kumimoji="1" lang="en-US" altLang="zh-CN" dirty="0"/>
              <a:t>-&gt;</a:t>
            </a:r>
            <a:r>
              <a:rPr kumimoji="1" lang="zh-CN" altLang="en-US" dirty="0"/>
              <a:t> 文言文</a:t>
            </a:r>
            <a:endParaRPr kumimoji="1" lang="en-US" altLang="zh-CN" dirty="0"/>
          </a:p>
          <a:p>
            <a:pPr lvl="1"/>
            <a:r>
              <a:rPr kumimoji="1" lang="en-US" altLang="zh-CN" dirty="0"/>
              <a:t>English</a:t>
            </a:r>
            <a:r>
              <a:rPr kumimoji="1" lang="zh-CN" altLang="en-US" dirty="0"/>
              <a:t> </a:t>
            </a:r>
            <a:r>
              <a:rPr kumimoji="1" lang="en-US" altLang="zh-CN" dirty="0"/>
              <a:t>&lt;-&gt;</a:t>
            </a:r>
            <a:r>
              <a:rPr kumimoji="1" lang="zh-CN" altLang="en-US" dirty="0"/>
              <a:t> </a:t>
            </a:r>
            <a:r>
              <a:rPr kumimoji="1" lang="en-US" altLang="zh-CN" dirty="0"/>
              <a:t>Shakespeare</a:t>
            </a:r>
          </a:p>
          <a:p>
            <a:r>
              <a:rPr kumimoji="1" lang="en-US" altLang="zh-CN" dirty="0"/>
              <a:t>Build</a:t>
            </a:r>
            <a:r>
              <a:rPr kumimoji="1" lang="zh-CN" altLang="en-US" dirty="0"/>
              <a:t> </a:t>
            </a:r>
            <a:r>
              <a:rPr kumimoji="1" lang="en-US" altLang="zh-CN" dirty="0" err="1"/>
              <a:t>WebApp</a:t>
            </a:r>
            <a:r>
              <a:rPr kumimoji="1" lang="en-US" altLang="zh-CN" dirty="0"/>
              <a:t>/demo</a:t>
            </a:r>
            <a:r>
              <a:rPr kumimoji="1" lang="zh-CN" altLang="en-US" dirty="0"/>
              <a:t> </a:t>
            </a:r>
            <a:r>
              <a:rPr kumimoji="1" lang="en-US" altLang="zh-CN" dirty="0"/>
              <a:t>for</a:t>
            </a:r>
            <a:r>
              <a:rPr kumimoji="1" lang="zh-CN" altLang="en-US" dirty="0"/>
              <a:t> </a:t>
            </a:r>
            <a:r>
              <a:rPr kumimoji="1" lang="en-US" altLang="zh-CN" dirty="0"/>
              <a:t>the</a:t>
            </a:r>
            <a:r>
              <a:rPr kumimoji="1" lang="zh-CN" altLang="en-US" dirty="0"/>
              <a:t> </a:t>
            </a:r>
            <a:r>
              <a:rPr kumimoji="1" lang="en-US" altLang="zh-CN" dirty="0"/>
              <a:t>translator</a:t>
            </a:r>
            <a:r>
              <a:rPr kumimoji="1" lang="zh-CN" altLang="en-US" dirty="0"/>
              <a:t> </a:t>
            </a:r>
            <a:r>
              <a:rPr kumimoji="1" lang="en-US" altLang="zh-CN" dirty="0"/>
              <a:t>(1</a:t>
            </a:r>
            <a:r>
              <a:rPr kumimoji="1" lang="zh-CN" altLang="en-US" dirty="0"/>
              <a:t> </a:t>
            </a:r>
            <a:r>
              <a:rPr kumimoji="1" lang="en-US" altLang="zh-CN" dirty="0"/>
              <a:t>week)</a:t>
            </a:r>
          </a:p>
          <a:p>
            <a:endParaRPr kumimoji="1" lang="en-US" altLang="zh-CN" dirty="0"/>
          </a:p>
        </p:txBody>
      </p:sp>
      <p:sp>
        <p:nvSpPr>
          <p:cNvPr id="4" name="文本框 3"/>
          <p:cNvSpPr txBox="1"/>
          <p:nvPr/>
        </p:nvSpPr>
        <p:spPr>
          <a:xfrm>
            <a:off x="4518212" y="2119256"/>
            <a:ext cx="184731" cy="369332"/>
          </a:xfrm>
          <a:prstGeom prst="rect">
            <a:avLst/>
          </a:prstGeom>
          <a:noFill/>
        </p:spPr>
        <p:txBody>
          <a:bodyPr wrap="none" rtlCol="0">
            <a:spAutoFit/>
          </a:bodyPr>
          <a:lstStyle/>
          <a:p>
            <a:endParaRPr kumimoji="1" lang="zh-CN" altLang="en-US" dirty="0"/>
          </a:p>
        </p:txBody>
      </p:sp>
    </p:spTree>
    <p:extLst>
      <p:ext uri="{BB962C8B-B14F-4D97-AF65-F5344CB8AC3E}">
        <p14:creationId xmlns:p14="http://schemas.microsoft.com/office/powerpoint/2010/main" val="21060521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Backups</a:t>
            </a:r>
            <a:endParaRPr kumimoji="1" lang="zh-CN" altLang="en-US" dirty="0"/>
          </a:p>
        </p:txBody>
      </p:sp>
      <p:sp>
        <p:nvSpPr>
          <p:cNvPr id="3" name="内容占位符 2"/>
          <p:cNvSpPr>
            <a:spLocks noGrp="1"/>
          </p:cNvSpPr>
          <p:nvPr>
            <p:ph idx="1"/>
          </p:nvPr>
        </p:nvSpPr>
        <p:spPr/>
        <p:txBody>
          <a:bodyPr>
            <a:normAutofit fontScale="47500" lnSpcReduction="20000"/>
          </a:bodyPr>
          <a:lstStyle/>
          <a:p>
            <a:r>
              <a:rPr kumimoji="1" lang="en-US" altLang="zh-CN" dirty="0"/>
              <a:t>References – Chinese</a:t>
            </a:r>
          </a:p>
          <a:p>
            <a:r>
              <a:rPr lang="zh-CN" altLang="en-US" b="1" dirty="0">
                <a:hlinkClick r:id="rId2"/>
              </a:rPr>
              <a:t>神经网络机器翻译</a:t>
            </a:r>
            <a:r>
              <a:rPr lang="en-US" b="1" dirty="0">
                <a:hlinkClick r:id="rId2"/>
              </a:rPr>
              <a:t>Neural Machine Translation(1): Encoder-Decoder Architecture</a:t>
            </a:r>
            <a:endParaRPr lang="en-US" b="1" dirty="0"/>
          </a:p>
          <a:p>
            <a:r>
              <a:rPr lang="zh-CN" altLang="en-US" b="1" dirty="0">
                <a:hlinkClick r:id="rId3"/>
              </a:rPr>
              <a:t>神经网络机器翻译</a:t>
            </a:r>
            <a:r>
              <a:rPr lang="en-US" b="1" dirty="0">
                <a:hlinkClick r:id="rId3"/>
              </a:rPr>
              <a:t>Neural Machine Translation(2): Attention Mechanism</a:t>
            </a:r>
            <a:endParaRPr kumimoji="1" lang="en-US" altLang="zh-CN" dirty="0"/>
          </a:p>
          <a:p>
            <a:r>
              <a:rPr lang="zh-CN" altLang="en-US" b="1" dirty="0">
                <a:hlinkClick r:id="rId4"/>
              </a:rPr>
              <a:t>神经网络机器翻译</a:t>
            </a:r>
            <a:r>
              <a:rPr lang="en-US" b="1" dirty="0">
                <a:hlinkClick r:id="rId4"/>
              </a:rPr>
              <a:t>Neural Machine Translation(3): Achieving Open Vocabulary Neural MT</a:t>
            </a:r>
            <a:endParaRPr lang="en-US" b="1" dirty="0"/>
          </a:p>
          <a:p>
            <a:r>
              <a:rPr lang="zh-CN" altLang="en-US" b="1" dirty="0">
                <a:hlinkClick r:id="rId5"/>
              </a:rPr>
              <a:t>神经网络机器翻译</a:t>
            </a:r>
            <a:r>
              <a:rPr lang="en-US" b="1" dirty="0">
                <a:hlinkClick r:id="rId5"/>
              </a:rPr>
              <a:t>Neural Machine Translation(4): Modeling Coverage &amp; MRT </a:t>
            </a:r>
            <a:endParaRPr lang="en-US" b="1" dirty="0"/>
          </a:p>
          <a:p>
            <a:r>
              <a:rPr lang="zh-CN" altLang="en-US" b="1" dirty="0">
                <a:hlinkClick r:id="rId6"/>
              </a:rPr>
              <a:t>神经网络机器翻译</a:t>
            </a:r>
            <a:r>
              <a:rPr lang="en-US" b="1" dirty="0">
                <a:hlinkClick r:id="rId6"/>
              </a:rPr>
              <a:t>Neural Machine Translation(5): Gradient-based Optimization Algorithms </a:t>
            </a:r>
            <a:endParaRPr lang="en-US" b="1" dirty="0"/>
          </a:p>
          <a:p>
            <a:endParaRPr kumimoji="1" lang="en-US" altLang="zh-CN" b="1" dirty="0"/>
          </a:p>
          <a:p>
            <a:r>
              <a:rPr lang="en-US" b="1" dirty="0">
                <a:hlinkClick r:id="rId7"/>
              </a:rPr>
              <a:t>Introduction to Neural Machine Translation with GPUs (part 1)</a:t>
            </a:r>
            <a:endParaRPr lang="en-US" b="1" dirty="0"/>
          </a:p>
          <a:p>
            <a:r>
              <a:rPr lang="en-US" b="1" dirty="0">
                <a:hlinkClick r:id="rId8"/>
              </a:rPr>
              <a:t>Introduction to Neural Machine Translation with GPUs (Part 2)</a:t>
            </a:r>
            <a:endParaRPr lang="en-US" b="1" dirty="0"/>
          </a:p>
          <a:p>
            <a:r>
              <a:rPr lang="en-US" b="1" dirty="0">
                <a:hlinkClick r:id="rId9"/>
              </a:rPr>
              <a:t>Introduction to Neural Machine Translation with GPUs (part 3)</a:t>
            </a:r>
            <a:endParaRPr lang="en-US" b="1" dirty="0"/>
          </a:p>
          <a:p>
            <a:endParaRPr kumimoji="1" lang="en-US" altLang="zh-CN" b="1" dirty="0"/>
          </a:p>
          <a:p>
            <a:r>
              <a:rPr kumimoji="1" lang="en-US" altLang="zh-CN" b="1" dirty="0"/>
              <a:t>Papers</a:t>
            </a:r>
          </a:p>
          <a:p>
            <a:r>
              <a:rPr lang="en-US" dirty="0"/>
              <a:t>Ilya </a:t>
            </a:r>
            <a:r>
              <a:rPr lang="en-US" dirty="0" err="1"/>
              <a:t>Sutskever</a:t>
            </a:r>
            <a:r>
              <a:rPr lang="en-US" dirty="0"/>
              <a:t>, Oriol </a:t>
            </a:r>
            <a:r>
              <a:rPr lang="en-US" dirty="0" err="1"/>
              <a:t>Vinyals</a:t>
            </a:r>
            <a:r>
              <a:rPr lang="en-US" dirty="0"/>
              <a:t>, Quoc V. Le. 2014. Sequence to sequence learning with neural networks. Advances in Neural Information Processing Systems, 4:3104-3112.</a:t>
            </a:r>
            <a:endParaRPr kumimoji="1" lang="en-US" altLang="zh-CN" b="1" dirty="0"/>
          </a:p>
          <a:p>
            <a:r>
              <a:rPr lang="en-US" dirty="0" err="1"/>
              <a:t>Dzmitry</a:t>
            </a:r>
            <a:r>
              <a:rPr lang="en-US" dirty="0"/>
              <a:t> </a:t>
            </a:r>
            <a:r>
              <a:rPr lang="en-US" dirty="0" err="1"/>
              <a:t>Bahdanau</a:t>
            </a:r>
            <a:r>
              <a:rPr lang="en-US" dirty="0"/>
              <a:t>, </a:t>
            </a:r>
            <a:r>
              <a:rPr lang="en-US" dirty="0" err="1"/>
              <a:t>Kyunghyun</a:t>
            </a:r>
            <a:r>
              <a:rPr lang="en-US" dirty="0"/>
              <a:t> Cho, and </a:t>
            </a:r>
            <a:r>
              <a:rPr lang="en-US" dirty="0" err="1"/>
              <a:t>Yoshua</a:t>
            </a:r>
            <a:r>
              <a:rPr lang="en-US" dirty="0"/>
              <a:t> </a:t>
            </a:r>
            <a:r>
              <a:rPr lang="en-US" dirty="0" err="1"/>
              <a:t>Bengio</a:t>
            </a:r>
            <a:r>
              <a:rPr lang="en-US" dirty="0"/>
              <a:t>. 2015. Neural machine translation by jointly learning to align and translate. In ICLR.</a:t>
            </a:r>
          </a:p>
          <a:p>
            <a:endParaRPr kumimoji="1" lang="en-US" altLang="zh-CN" dirty="0"/>
          </a:p>
          <a:p>
            <a:endParaRPr kumimoji="1" lang="en-US" altLang="zh-CN" dirty="0"/>
          </a:p>
        </p:txBody>
      </p:sp>
    </p:spTree>
    <p:extLst>
      <p:ext uri="{BB962C8B-B14F-4D97-AF65-F5344CB8AC3E}">
        <p14:creationId xmlns:p14="http://schemas.microsoft.com/office/powerpoint/2010/main" val="1041212100"/>
      </p:ext>
    </p:extLst>
  </p:cSld>
  <p:clrMapOvr>
    <a:masterClrMapping/>
  </p:clrMapOvr>
</p:sld>
</file>

<file path=ppt/theme/theme1.xml><?xml version="1.0" encoding="utf-8"?>
<a:theme xmlns:a="http://schemas.openxmlformats.org/drawingml/2006/main" name="怀旧">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回顾</Template>
  <TotalTime>250</TotalTime>
  <Words>556</Words>
  <Application>Microsoft Office PowerPoint</Application>
  <PresentationFormat>Widescreen</PresentationFormat>
  <Paragraphs>59</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宋体</vt:lpstr>
      <vt:lpstr>Calibri</vt:lpstr>
      <vt:lpstr>Calibri Light</vt:lpstr>
      <vt:lpstr>怀旧</vt:lpstr>
      <vt:lpstr>Neural machine translation model on CNTK - GIX</vt:lpstr>
      <vt:lpstr>Description</vt:lpstr>
      <vt:lpstr>Machine Translation</vt:lpstr>
      <vt:lpstr>Progress of MT</vt:lpstr>
      <vt:lpstr>Neural Machine Translation</vt:lpstr>
      <vt:lpstr>CNTK</vt:lpstr>
      <vt:lpstr>Tasks</vt:lpstr>
      <vt:lpstr>Technical requirement</vt:lpstr>
      <vt:lpstr>Planned time schedule</vt:lpstr>
      <vt:lpstr>Backups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Neural machine translation model on CNTK - GIX</dc:title>
  <dc:creator>Qiwei Ye</dc:creator>
  <cp:lastModifiedBy>Taifeng Wang</cp:lastModifiedBy>
  <cp:revision>13</cp:revision>
  <dcterms:created xsi:type="dcterms:W3CDTF">2017-01-31T05:16:13Z</dcterms:created>
  <dcterms:modified xsi:type="dcterms:W3CDTF">2017-02-01T08:20:31Z</dcterms:modified>
</cp:coreProperties>
</file>